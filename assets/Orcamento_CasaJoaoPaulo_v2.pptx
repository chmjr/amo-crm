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15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edia/image6.jpeg"/>
          <p:cNvPicPr>
            <a:picLocks noChangeAspect="1"/>
          </p:cNvPicPr>
          <p:nvPr/>
        </p:nvPicPr>
        <p:blipFill>
          <a:blip r:embed="rId3">
            <a:alphaModFix amt="75000"/>
          </a:blip>
          <a:srcRect/>
          <a:stretch/>
        </p:blipFill>
        <p:spPr>
          <a:xfrm>
            <a:off x="5486400" y="0"/>
            <a:ext cx="66751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0"/>
            <a:ext cx="1097280" cy="6858000"/>
          </a:xfrm>
          <a:prstGeom prst="rect">
            <a:avLst/>
          </a:prstGeom>
          <a:solidFill>
            <a:srgbClr val="1F1F1F">
              <a:alpha val="70000"/>
            </a:srgbClr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kern="0" spc="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 ·  INTERIORES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73152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 · 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 Residencial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João Paulo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B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lar pensado a partir de quem o habita.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5989320"/>
            <a:ext cx="5943600" cy="0"/>
          </a:xfrm>
          <a:prstGeom prst="line">
            <a:avLst/>
          </a:prstGeom>
          <a:noFill/>
          <a:ln w="9525">
            <a:solidFill>
              <a:srgbClr val="B850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126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
</a:t>
            </a:r>
            <a:r>
              <a:rPr lang="en-US" sz="1200" i="1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Larissa &amp; Marina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9768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
</a:t>
            </a:r>
            <a:r>
              <a:rPr lang="en-US" sz="1200" i="1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Abril,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QUEM SOMOS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o escritório</a:t>
            </a:r>
            <a:endParaRPr lang="en-US" sz="3800" dirty="0"/>
          </a:p>
        </p:txBody>
      </p:sp>
      <p:pic>
        <p:nvPicPr>
          <p:cNvPr id="5" name="Image 0" descr="/home/claude/media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0" y="0"/>
            <a:ext cx="5029200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0"/>
            <a:ext cx="7315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E3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“Criamos espaços que façam sentido para quem vive neles.”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 Arquitetura e Interiores é um escritório conduzido por duas sócias arquitetas — </a:t>
            </a: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Larissa e Marina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apaixonadas por traduzir histórias em ambientes.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projeto nasce da escuta atenta, do cuidado com os detalhes e do equilíbrio entre estética e funcionalidade. Acreditamos que um bom projeto começa muito antes da primeira linha — começa quando entendemos quem você é.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05472" y="5989320"/>
            <a:ext cx="4956048" cy="457200"/>
          </a:xfrm>
          <a:prstGeom prst="rect">
            <a:avLst/>
          </a:prstGeom>
          <a:solidFill>
            <a:srgbClr val="1F1F1F">
              <a:alpha val="75000"/>
            </a:srgbClr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05472" y="59893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LARISSA  &amp;  MARINA  ·  SÓCIAS ARQUITETAS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NOSSO PORTFÓLIO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Projetos selecionados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seleção de obras recentes que traduzem nossa abordagem: presença, proporção e luz.</a:t>
            </a:r>
            <a:endParaRPr lang="en-US" sz="1300" dirty="0"/>
          </a:p>
        </p:txBody>
      </p:sp>
      <p:pic>
        <p:nvPicPr>
          <p:cNvPr id="6" name="Image 0" descr="/home/claude/media/image5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331720"/>
            <a:ext cx="5509260" cy="18516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680460"/>
            <a:ext cx="5509260" cy="502920"/>
          </a:xfrm>
          <a:prstGeom prst="rect">
            <a:avLst/>
          </a:prstGeom>
          <a:solidFill>
            <a:srgbClr val="1F1F1F">
              <a:alpha val="80000"/>
            </a:srgbClr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680460"/>
            <a:ext cx="54864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680460"/>
            <a:ext cx="532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MI</a:t>
            </a:r>
            <a:endParaRPr lang="en-US" sz="1100" dirty="0"/>
          </a:p>
          <a:p>
            <a:pPr marL="0" indent="0">
              <a:buNone/>
            </a:pPr>
            <a:r>
              <a:rPr lang="en-US" sz="900" i="1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Celso Ramos · SC</a:t>
            </a:r>
            <a:endParaRPr lang="en-US" sz="1100" dirty="0"/>
          </a:p>
        </p:txBody>
      </p:sp>
      <p:pic>
        <p:nvPicPr>
          <p:cNvPr id="10" name="Image 1" descr="/home/claude/media/image10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5060" y="2331720"/>
            <a:ext cx="5509260" cy="18516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95060" y="3680460"/>
            <a:ext cx="5509260" cy="502920"/>
          </a:xfrm>
          <a:prstGeom prst="rect">
            <a:avLst/>
          </a:prstGeom>
          <a:solidFill>
            <a:srgbClr val="1F1F1F">
              <a:alpha val="80000"/>
            </a:srgbClr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95060" y="3680460"/>
            <a:ext cx="54864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9652" y="3680460"/>
            <a:ext cx="532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MANSÃO TM</a:t>
            </a:r>
            <a:endParaRPr lang="en-US" sz="1100" dirty="0"/>
          </a:p>
          <a:p>
            <a:pPr marL="0" indent="0">
              <a:buNone/>
            </a:pPr>
            <a:r>
              <a:rPr lang="en-US" sz="900" i="1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· SC</a:t>
            </a:r>
            <a:endParaRPr lang="en-US" sz="1100" dirty="0"/>
          </a:p>
        </p:txBody>
      </p:sp>
      <p:pic>
        <p:nvPicPr>
          <p:cNvPr id="14" name="Image 2" descr="/home/claude/media/image1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4411980"/>
            <a:ext cx="5509260" cy="18516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57200" y="5760720"/>
            <a:ext cx="5509260" cy="502920"/>
          </a:xfrm>
          <a:prstGeom prst="rect">
            <a:avLst/>
          </a:prstGeom>
          <a:solidFill>
            <a:srgbClr val="1F1F1F">
              <a:alpha val="80000"/>
            </a:srgbClr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5760720"/>
            <a:ext cx="54864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1792" y="5760720"/>
            <a:ext cx="532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LP</a:t>
            </a:r>
            <a:endParaRPr lang="en-US" sz="1100" dirty="0"/>
          </a:p>
          <a:p>
            <a:pPr marL="0" indent="0">
              <a:buNone/>
            </a:pPr>
            <a:r>
              <a:rPr lang="en-US" sz="900" i="1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· SC</a:t>
            </a:r>
            <a:endParaRPr lang="en-US" sz="1100" dirty="0"/>
          </a:p>
        </p:txBody>
      </p:sp>
      <p:pic>
        <p:nvPicPr>
          <p:cNvPr id="18" name="Image 3" descr="/home/claude/media/image13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95060" y="4411980"/>
            <a:ext cx="5509260" cy="18516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95060" y="5760720"/>
            <a:ext cx="5509260" cy="502920"/>
          </a:xfrm>
          <a:prstGeom prst="rect">
            <a:avLst/>
          </a:prstGeom>
          <a:solidFill>
            <a:srgbClr val="1F1F1F">
              <a:alpha val="80000"/>
            </a:srgbClr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5060" y="5760720"/>
            <a:ext cx="54864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359652" y="5760720"/>
            <a:ext cx="532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EXTERNA MF</a:t>
            </a:r>
            <a:endParaRPr lang="en-US" sz="1100" dirty="0"/>
          </a:p>
          <a:p>
            <a:pPr marL="0" indent="0">
              <a:buNone/>
            </a:pPr>
            <a:r>
              <a:rPr lang="en-US" sz="900" i="1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· SC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edia/image9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71323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59168" y="0"/>
            <a:ext cx="7315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98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01  ·  RESIDENCIAL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498080" y="960120"/>
            <a:ext cx="4572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143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MI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Celso Ramos  ·  Santa Catarina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26060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residência onde o projeto integral — da volumetria à última peça de marcenaria — foi pensado para uma família que valoriza vida ao ar livre, encontros e o convívio com a paisagem.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00684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Térreo + mezanino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0" y="5257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00684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+ interiores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5760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006840" y="5760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 executivo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edia/image1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0"/>
            <a:ext cx="71323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02  ·  RESIDENCIAL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43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Mansão TM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 ·  Santa Catarina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externas projetadas como extensão dos espaços internos, com mobiliário sob medida e paisagismo integrado para receber família e convidados o ano inteiro.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57400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Residência alto padrão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5257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57400" y="5257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Áreas externas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5740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Paisagismo + mobiliário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03 &amp;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Outras realizações</a:t>
            </a:r>
            <a:endParaRPr lang="en-US" sz="3800" dirty="0"/>
          </a:p>
        </p:txBody>
      </p:sp>
      <p:pic>
        <p:nvPicPr>
          <p:cNvPr id="5" name="Image 0" descr="/home/claude/media/image1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48840"/>
            <a:ext cx="548640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73152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LP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 ·  SC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5623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 com integração total entre piscina, deck e áreas sociais.</a:t>
            </a:r>
            <a:endParaRPr lang="en-US" sz="1100" dirty="0"/>
          </a:p>
        </p:txBody>
      </p:sp>
      <p:pic>
        <p:nvPicPr>
          <p:cNvPr id="10" name="Image 1" descr="/home/claude/media/image1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148840"/>
            <a:ext cx="5486400" cy="2606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09360" y="4754880"/>
            <a:ext cx="73152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0936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Área Externa MF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30936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 ·  SC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309360" y="5623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varanda gourmet com vista para a cidade e mobiliário planejado.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METODOLOGIA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Etapas e prazos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caminho do briefing à entrega final do projeto executivo.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0515600" cy="0"/>
          </a:xfrm>
          <a:prstGeom prst="line">
            <a:avLst/>
          </a:prstGeom>
          <a:noFill/>
          <a:ln w="15875">
            <a:solidFill>
              <a:srgbClr val="D6CC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50492" y="2999232"/>
            <a:ext cx="219456" cy="219456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4EF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DIAS ÚTEIS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Briefing &amp; Layout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reunião de briefing, levantamento e estudo preliminar com referências.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6572" y="2999232"/>
            <a:ext cx="219456" cy="219456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4EF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DIAS ÚTEIS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Imagens 3D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4114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das imagens 3D internas e ajustes em 2ª reunião.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02652" y="2999232"/>
            <a:ext cx="219456" cy="219456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4EF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DIAS ÚTEIS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Área Externa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3D das áreas externas e definição dos materiais.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428732" y="2999232"/>
            <a:ext cx="219456" cy="219456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4EF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23544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 Executivo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26880" y="4114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Plantas, elétrico, hidráulico, luminotécnico, paisagismo e paginação.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760720"/>
            <a:ext cx="73152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760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ILIMITADAS  </a:t>
            </a:r>
            <a:r>
              <a:rPr lang="en-US" sz="1100" i="1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refinamos o projeto até a sua aprovação completa.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ENTREGÁVEIS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está incluso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 a documentação técnica necessária para conduzir sua obra com clareza.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7315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41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funcional dos ambientes e mobiliário.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331720"/>
            <a:ext cx="7315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441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Plantas de Construir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 para execução.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233172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331720"/>
            <a:ext cx="7315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441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 Elétricos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de tomadas, interruptores e quadros.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35440" y="233172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2331720"/>
            <a:ext cx="7315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2441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2980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 Hidráulicos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água, esgoto e drenagem.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29000"/>
            <a:ext cx="7315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38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Luminotécnico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Iluminação geral, dirigida e cênica.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83280" y="342900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3429000"/>
            <a:ext cx="7315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538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7764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e setorização dos circuitos elétricos.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342900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429000"/>
            <a:ext cx="7315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538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Paisagismo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Vegetação, canteiros e composição externa.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235440" y="3429000"/>
            <a:ext cx="2788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0" y="3429000"/>
            <a:ext cx="7315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0" y="3538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82980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Paginação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41832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Pisos, revestimentos e paginações detalhadas.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E7E0D2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754880"/>
            <a:ext cx="73152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3D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" y="5138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Imagens fotorrealistas dos ambientes internos e da área externa, permitindo visualizar o projeto antes da execução.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INVESTIMENTO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Proposta financeira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 Residencial  ·  Bairro João Paulo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DO ORÇAMENTO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943600" cy="0"/>
          </a:xfrm>
          <a:prstGeom prst="line">
            <a:avLst/>
          </a:prstGeom>
          <a:noFill/>
          <a:ln w="12700">
            <a:solidFill>
              <a:srgbClr val="D6CC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Layout do térreo + mezanino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R$ 5.800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943600" cy="0"/>
          </a:xfrm>
          <a:prstGeom prst="line">
            <a:avLst/>
          </a:prstGeom>
          <a:noFill/>
          <a:ln w="6350">
            <a:solidFill>
              <a:srgbClr val="D6CC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área externa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R$ 5.500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943600" cy="0"/>
          </a:xfrm>
          <a:prstGeom prst="line">
            <a:avLst/>
          </a:prstGeom>
          <a:noFill/>
          <a:ln w="6350">
            <a:solidFill>
              <a:srgbClr val="D6CC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strike="sngStrike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R$ 11.300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Proposta válida por 30 dias.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Suporte por telefone e WhatsApp incluso durante o desenvolvimento do projeto, até a entrega final.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Acompanhamento de obra, visitas técnicas e suporte na execução não fazem parte desta etapa.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2331720"/>
            <a:ext cx="4846320" cy="416052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331720"/>
            <a:ext cx="484632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B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desconto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3337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R$ 10.170</a:t>
            </a:r>
            <a:endParaRPr lang="en-US" sz="5600" dirty="0"/>
          </a:p>
        </p:txBody>
      </p:sp>
      <p:sp>
        <p:nvSpPr>
          <p:cNvPr id="23" name="Shape 21"/>
          <p:cNvSpPr/>
          <p:nvPr/>
        </p:nvSpPr>
        <p:spPr>
          <a:xfrm>
            <a:off x="7178040" y="4526280"/>
            <a:ext cx="4206240" cy="0"/>
          </a:xfrm>
          <a:prstGeom prst="line">
            <a:avLst/>
          </a:prstGeom>
          <a:noFill/>
          <a:ln w="9525">
            <a:solidFill>
              <a:srgbClr val="8E3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PAGAMENTO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7804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R$ 3.390</a:t>
            </a:r>
            <a:r>
              <a:rPr lang="en-US" sz="12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assinatura do contrato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parcelas mensais de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R$ 3.390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78040" y="5989320"/>
            <a:ext cx="1828800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5989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R$ 1.130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SERVIÇOS COMPLEMENTARES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Acompanhamento de obra</a:t>
            </a:r>
            <a:endParaRPr lang="en-US" sz="3800" dirty="0"/>
          </a:p>
        </p:txBody>
      </p:sp>
      <p:pic>
        <p:nvPicPr>
          <p:cNvPr id="5" name="Image 0" descr="/home/claude/media/image1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0"/>
            <a:ext cx="7315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920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8E3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 projeto é só o começo. A boa execução é o que transforma desenho em lar.”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Oferecemos três serviços independentes para acompanhar você durante a execução. Todos opcionais e contratados separadamente do projeto de arquitetura.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5074920"/>
            <a:ext cx="182880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5166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Orçamentos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0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743200" y="5074920"/>
            <a:ext cx="182880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5166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Visitas técnicas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029200" y="5074920"/>
            <a:ext cx="182880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5166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Acompanhamento em lojas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SERVIÇOS COMPLEMENTARES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serviços independentes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Contrate apenas o que fizer sentido para o seu momento de obra.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36576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E7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Orçamentos com Fornecedores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4709160"/>
            <a:ext cx="548640" cy="0"/>
          </a:xfrm>
          <a:prstGeom prst="line">
            <a:avLst/>
          </a:prstGeom>
          <a:noFill/>
          <a:ln w="15875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846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Indicamos e orçamos com até 3 fornecedores por categoria do seu projeto — do piso à marcenaria. Você escolhe com base em valores, prazos e qualidade.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3774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377440"/>
            <a:ext cx="36576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E7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Visitas Técnicas em Obra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4709160"/>
            <a:ext cx="548640" cy="0"/>
          </a:xfrm>
          <a:prstGeom prst="line">
            <a:avLst/>
          </a:prstGeom>
          <a:noFill/>
          <a:ln w="15875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846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Visitamos a obra em horário comercial para conferir execução, medições e compatibilizar o que está sendo construído com o projeto aprovado.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3774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377440"/>
            <a:ext cx="36576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E7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8366760" y="3794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Acompanhamento em Lojas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66760" y="4709160"/>
            <a:ext cx="548640" cy="0"/>
          </a:xfrm>
          <a:prstGeom prst="line">
            <a:avLst/>
          </a:prstGeom>
          <a:noFill/>
          <a:ln w="15875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4846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de até 3h em lojas da Grande Florianópolis para escolha de materiais, mobiliário e acabamentos com nosso olhar técnico ao seu lado.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Todos os serviços são opcionais e contratados separadamente do projeto de arquitetura.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IMPORTANTE SABER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Acompanhamento ≠ Gerenciamento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evitar mal-entendidos, deixamos claro o que está e o que não está incluso.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486400" cy="411480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54864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OBRA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oferecemos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548640" cy="0"/>
          </a:xfrm>
          <a:prstGeom prst="line">
            <a:avLst/>
          </a:prstGeom>
          <a:noFill/>
          <a:ln w="15875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técnicas semanais ou quinzenais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com fornecedores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fornecedores para sanar dúvidas e definir detalhes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5486400" cy="4114800"/>
          </a:xfrm>
          <a:prstGeom prst="rect">
            <a:avLst/>
          </a:prstGeom>
          <a:solidFill>
            <a:srgbClr val="E7E0D2"/>
          </a:solidFill>
          <a:ln w="9525">
            <a:solidFill>
              <a:srgbClr val="C9BF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OBRA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incluso nesta proposta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83680" y="3703320"/>
            <a:ext cx="548640" cy="0"/>
          </a:xfrm>
          <a:prstGeom prst="line">
            <a:avLst/>
          </a:prstGeom>
          <a:noFill/>
          <a:ln w="15875">
            <a:solidFill>
              <a:srgbClr val="C9BF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8862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frequentes diárias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de funcionários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e relatório semanal de obra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quantitativas e planilhas de gastos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COMO COMEÇAR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2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passos simples para tirar a Casa João Paulo do papel.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68880"/>
            <a:ext cx="73152" cy="3200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731520" y="3886200"/>
            <a:ext cx="548640" cy="0"/>
          </a:xfrm>
          <a:prstGeom prst="line">
            <a:avLst/>
          </a:prstGeom>
          <a:noFill/>
          <a:ln w="15875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Aprovação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revisa e aprova esta proposta dentro do prazo de validade.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46888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468880"/>
            <a:ext cx="73152" cy="3200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3611880" y="3886200"/>
            <a:ext cx="548640" cy="0"/>
          </a:xfrm>
          <a:prstGeom prst="line">
            <a:avLst/>
          </a:prstGeom>
          <a:noFill/>
          <a:ln w="15875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do contrato e pagamento da entrada.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46888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468880"/>
            <a:ext cx="73152" cy="3200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6492240" y="3886200"/>
            <a:ext cx="548640" cy="0"/>
          </a:xfrm>
          <a:prstGeom prst="line">
            <a:avLst/>
          </a:prstGeom>
          <a:noFill/>
          <a:ln w="15875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Agendamos a 1ª reunião para entender seus desejos em detalhe.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98280" y="246888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2468880"/>
            <a:ext cx="73152" cy="3200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9372600" y="3886200"/>
            <a:ext cx="548640" cy="0"/>
          </a:xfrm>
          <a:prstGeom prst="line">
            <a:avLst/>
          </a:prstGeom>
          <a:noFill/>
          <a:ln w="15875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Início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7260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 início ao desenvolvimento do projeto da sua casa.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PRONTOS PARA COMEÇAR?  </a:t>
            </a:r>
            <a:r>
              <a:rPr lang="en-US" sz="1100" i="1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fale com a gente pelo WhatsApp e marque a primeira reunião.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 ·  ARQUITETURA E INTERIORES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900" kern="0" spc="2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edia/image5.jpeg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F1F1F">
              <a:alpha val="65000"/>
            </a:srgbClr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109728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kern="0" spc="8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16459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 ·  INTERIORES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852160" y="2377440"/>
            <a:ext cx="4572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2606040"/>
            <a:ext cx="1216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0" y="411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B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Estamos ansiosas para construir esta casa com você.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0" y="5029200"/>
            <a:ext cx="4846320" cy="0"/>
          </a:xfrm>
          <a:prstGeom prst="line">
            <a:avLst/>
          </a:prstGeom>
          <a:noFill/>
          <a:ln w="9525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521208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LARISSA  &amp;  MARINA</a:t>
            </a:r>
            <a:endParaRPr lang="en-US" sz="10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Sócias Arquitetas  ·  AMO Arquitetura e Interiores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1111</Words>
  <Application>Microsoft Office PowerPoint</Application>
  <PresentationFormat>Widescreen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Orçamento - Casa João Paulo</dc:title>
  <dc:subject>PptxGenJS Presentation</dc:subject>
  <dc:creator>AMO Arquitetura e Interiores</dc:creator>
  <cp:lastModifiedBy>Rico Moreira</cp:lastModifiedBy>
  <cp:revision>1</cp:revision>
  <dcterms:created xsi:type="dcterms:W3CDTF">2026-04-07T14:23:43Z</dcterms:created>
  <dcterms:modified xsi:type="dcterms:W3CDTF">2026-04-07T14:28:17Z</dcterms:modified>
</cp:coreProperties>
</file>